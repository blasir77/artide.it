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7556500" cx="106934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Montserrat Light"/>
      <p:regular r:id="rId37"/>
      <p:bold r:id="rId38"/>
      <p:italic r:id="rId39"/>
      <p:boldItalic r:id="rId40"/>
    </p:embeddedFont>
    <p:embeddedFont>
      <p:font typeface="Questrial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52">
          <p15:clr>
            <a:srgbClr val="000000"/>
          </p15:clr>
        </p15:guide>
        <p15:guide id="2" pos="179">
          <p15:clr>
            <a:srgbClr val="000000"/>
          </p15:clr>
        </p15:guide>
        <p15:guide id="3" orient="horz" pos="4392">
          <p15:clr>
            <a:srgbClr val="747775"/>
          </p15:clr>
        </p15:guide>
        <p15:guide id="4" pos="6516">
          <p15:clr>
            <a:srgbClr val="747775"/>
          </p15:clr>
        </p15:guide>
        <p15:guide id="5" orient="horz" pos="371">
          <p15:clr>
            <a:srgbClr val="747775"/>
          </p15:clr>
        </p15:guide>
        <p15:guide id="6" pos="792">
          <p15:clr>
            <a:srgbClr val="747775"/>
          </p15:clr>
        </p15:guide>
        <p15:guide id="7" pos="1296">
          <p15:clr>
            <a:srgbClr val="747775"/>
          </p15:clr>
        </p15:guide>
      </p15:sldGuideLst>
    </p:ext>
    <p:ext uri="GoogleSlidesCustomDataVersion2">
      <go:slidesCustomData xmlns:go="http://customooxmlschemas.google.com/" r:id="rId42" roundtripDataSignature="AMtx7mhbl9aTa1w+vG3oli+1NmccZB/v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4B59BE-C285-42D9-A55F-11C9BEDF32A4}">
  <a:tblStyle styleId="{804B59BE-C285-42D9-A55F-11C9BEDF32A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2" orient="horz"/>
        <p:guide pos="179"/>
        <p:guide pos="4392" orient="horz"/>
        <p:guide pos="6516"/>
        <p:guide pos="371" orient="horz"/>
        <p:guide pos="792"/>
        <p:guide pos="129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Questrial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37" Type="http://schemas.openxmlformats.org/officeDocument/2006/relationships/font" Target="fonts/Montserrat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Light-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663bfd1d9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a663bfd1d9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1e7ae9f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7f1e7ae9f6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60f0609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c60f06092a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60f06092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c60f06092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3eb3408a5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93eb3408a5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f27e3446b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7f27e3446b_4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4e01dc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a64e01dc01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64e01dc01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a64e01dc01_6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c0e86948e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8c0e86948e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4fa9fb1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g3d4fa9fb1a3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fa9fb1a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g3d4fa9fb1a3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663bfd1d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a663bfd1d9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46a84d59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46a84d593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46a84d59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d46a84d59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4f5e183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d4f5e183c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46a84d5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d46a84d593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f27e3446b_4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7f27e3446b_4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f1e7ae9f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7f1e7ae9f6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f27e3446b_4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7f27e3446b_4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7f27e3446b_4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7f27e3446b_4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f1e7ae9f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4" name="Google Shape;384;g37f1e7ae9f6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7f4bfb335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6" name="Google Shape;396;g37f4bfb335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f4bfb335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8" name="Google Shape;408;g37f4bfb335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7f1e7ae9f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g37f1e7ae9f6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ricambibagno.it" TargetMode="External"/><Relationship Id="rId4" Type="http://schemas.openxmlformats.org/officeDocument/2006/relationships/hyperlink" Target="https://docs.google.com/spreadsheets/d/105qrvcC9JtugEG4WywMLcV2-DDNBgTi-xtxxf6MRZGg/edit?gid=1171592442#gid=1171592442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hyperlink" Target="https://docs.google.com/spreadsheets/d/1g_Cle4sAFpYZve8bGhEFep7ZELR8RyH7/edit?gid=1685542857#gid=1685542857" TargetMode="External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7.jpg"/><Relationship Id="rId6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hyperlink" Target="https://www.artide.it/home/" TargetMode="External"/><Relationship Id="rId6" Type="http://schemas.openxmlformats.org/officeDocument/2006/relationships/hyperlink" Target="https://www.artide.it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hyperlink" Target="https://pagespeed.web.dev/analysis/https-www-artide-it/gny1z2dx4n?form_factor=mobil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hyperlink" Target="https://www.artide.it/produzione-tessere/" TargetMode="External"/><Relationship Id="rId6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Relationship Id="rId7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20.png"/><Relationship Id="rId6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jp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7291925"/>
            <a:ext cx="10692000" cy="265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3336861" y="2801851"/>
            <a:ext cx="4016871" cy="722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3800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838774" y="219989"/>
            <a:ext cx="2685623" cy="368372"/>
          </a:xfrm>
          <a:custGeom>
            <a:rect b="b" l="l" r="r" t="t"/>
            <a:pathLst>
              <a:path extrusionOk="0" h="368372" w="2685623">
                <a:moveTo>
                  <a:pt x="0" y="0"/>
                </a:moveTo>
                <a:lnTo>
                  <a:pt x="2685623" y="0"/>
                </a:lnTo>
                <a:lnTo>
                  <a:pt x="2685623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377" t="0"/>
            </a:stretch>
          </a:blipFill>
          <a:ln>
            <a:noFill/>
          </a:ln>
        </p:spPr>
      </p:sp>
      <p:cxnSp>
        <p:nvCxnSpPr>
          <p:cNvPr id="88" name="Google Shape;88;p1"/>
          <p:cNvCxnSpPr/>
          <p:nvPr/>
        </p:nvCxnSpPr>
        <p:spPr>
          <a:xfrm>
            <a:off x="3338268" y="4600987"/>
            <a:ext cx="4016871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1"/>
          <p:cNvSpPr txBox="1"/>
          <p:nvPr/>
        </p:nvSpPr>
        <p:spPr>
          <a:xfrm>
            <a:off x="3830825" y="4186600"/>
            <a:ext cx="3099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9"/>
              <a:buFont typeface="Arial"/>
              <a:buNone/>
            </a:pPr>
            <a:r>
              <a:rPr lang="en-US" sz="1599">
                <a:latin typeface="Questrial"/>
                <a:ea typeface="Questrial"/>
                <a:cs typeface="Questrial"/>
                <a:sym typeface="Questrial"/>
              </a:rPr>
              <a:t>https://www.artide.it</a:t>
            </a:r>
            <a:endParaRPr b="0" i="0" sz="1599" u="none" cap="none" strike="noStrike">
              <a:solidFill>
                <a:srgbClr val="000000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3225" y="1521350"/>
            <a:ext cx="2466975" cy="1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03875" y="941225"/>
            <a:ext cx="10282800" cy="57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L’obiettivo di questa analisi è offrire una fotografia chiara dello stato attuale del sito</a:t>
            </a:r>
            <a:r>
              <a:rPr b="0" i="0" lang="en-US" sz="1400" u="none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dal punto di vista SEO, mettendo in evidenza i punti di forza già consolidati e le aree che necessitano di interventi mirati per aumentare visibilità, traffico e autorevolezza.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Artide è un’azienda italiana specializzata nella progettazione, produzione e manutenzione di Case dell’Acqua ed erogatori, con soluzioni per acqua microfiltrata e potabilizzazione. Offre impianti personalizzati, revamping di strutture esistenti e assistenza H24, garantendo prodotti anche a vita.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Si rivolge a enti pubblici, municipalizzate, aziende e realtà industriali che necessitano di sistemi affidabili per la distribuzione e il trattamento dell’acqua.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Questa </a:t>
            </a: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SEO Audit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analizza gli aspetti tecnici, semantici e strutturali del sito e propone una roadmap operativa suddivisa per priorità, con i seguenti obiettivi: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migliorare la struttura del sito;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ottimizzare il profilo backlink per garantire qualità e affidabilità;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fornire a Google strumenti per comprendere meglio la tipologia di prodotti, attraverso descrizioni di categoria e una maggiore coerenza SEO on-page (title, H1, description, dati strutturati);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potenziare l’indicizzazione e il posizionamento dei contenuti più strategici;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rafforzare la fiducia algoritmica agli occhi di Google.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basi sono presenti: ora è il momento di renderle più solide, più performanti e orientate al posizionamento organico di query più generiche e non brand.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lista delle analisi condotte è presente a </a:t>
            </a: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questo link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all’interno di questa presentazione verranno esposti solo i risultati che hanno dato adito a problemi da evidenziare e correggere.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458316" t="0"/>
            </a:stretch>
          </a:blipFill>
          <a:ln>
            <a:noFill/>
          </a:ln>
        </p:spPr>
      </p:sp>
      <p:sp>
        <p:nvSpPr>
          <p:cNvPr id="98" name="Google Shape;98;p2"/>
          <p:cNvSpPr txBox="1"/>
          <p:nvPr/>
        </p:nvSpPr>
        <p:spPr>
          <a:xfrm>
            <a:off x="0" y="7291925"/>
            <a:ext cx="10692000" cy="268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99" name="Google Shape;99;p2"/>
          <p:cNvCxnSpPr/>
          <p:nvPr/>
        </p:nvCxnSpPr>
        <p:spPr>
          <a:xfrm>
            <a:off x="337007" y="7192118"/>
            <a:ext cx="10091769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"/>
          <p:cNvCxnSpPr/>
          <p:nvPr/>
        </p:nvCxnSpPr>
        <p:spPr>
          <a:xfrm>
            <a:off x="104887" y="1034958"/>
            <a:ext cx="0" cy="6025633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"/>
          <p:cNvCxnSpPr/>
          <p:nvPr/>
        </p:nvCxnSpPr>
        <p:spPr>
          <a:xfrm>
            <a:off x="10594807" y="1034958"/>
            <a:ext cx="0" cy="6025633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"/>
          <p:cNvSpPr txBox="1"/>
          <p:nvPr/>
        </p:nvSpPr>
        <p:spPr>
          <a:xfrm>
            <a:off x="2057400" y="233025"/>
            <a:ext cx="33021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63bfd1d9_0_77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g3a663bfd1d9_0_77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09" name="Google Shape;109;g3a663bfd1d9_0_77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10" name="Google Shape;110;g3a663bfd1d9_0_77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g3a663bfd1d9_0_77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g3a663bfd1d9_0_77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g3a663bfd1d9_0_77"/>
          <p:cNvSpPr txBox="1"/>
          <p:nvPr/>
        </p:nvSpPr>
        <p:spPr>
          <a:xfrm>
            <a:off x="2057400" y="233025"/>
            <a:ext cx="327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Fotografia iniziale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a663bfd1d9_0_77"/>
          <p:cNvSpPr txBox="1"/>
          <p:nvPr/>
        </p:nvSpPr>
        <p:spPr>
          <a:xfrm>
            <a:off x="208450" y="1320516"/>
            <a:ext cx="7291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keyword a cui puntare sono state definite in una </a:t>
            </a:r>
            <a:r>
              <a:rPr b="0" i="0" lang="en-US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prima keyword research introduttiva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/>
              <a:t>Gli obiettivi primari sono tutti legati ai servizi di erogazione e potabillizzazione dell’acqua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g3a663bfd1d9_0_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05950" y="1490300"/>
            <a:ext cx="2050500" cy="548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1e7ae9f6_0_44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g37f1e7ae9f6_0_44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22" name="Google Shape;122;g37f1e7ae9f6_0_44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23" name="Google Shape;123;g37f1e7ae9f6_0_44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g37f1e7ae9f6_0_44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g37f1e7ae9f6_0_44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g37f1e7ae9f6_0_44"/>
          <p:cNvSpPr txBox="1"/>
          <p:nvPr/>
        </p:nvSpPr>
        <p:spPr>
          <a:xfrm>
            <a:off x="2057677" y="233036"/>
            <a:ext cx="26640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Keyword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Positioning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7f1e7ae9f6_0_44"/>
          <p:cNvSpPr txBox="1"/>
          <p:nvPr/>
        </p:nvSpPr>
        <p:spPr>
          <a:xfrm>
            <a:off x="208425" y="1034950"/>
            <a:ext cx="102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seguire le query posizionate del sito. I dati sono estratti da Google Search Console. Ultimi 12 mesi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8" name="Google Shape;128;g37f1e7ae9f6_0_44"/>
          <p:cNvGraphicFramePr/>
          <p:nvPr/>
        </p:nvGraphicFramePr>
        <p:xfrm>
          <a:off x="2523625" y="138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{804B59BE-C285-42D9-A55F-11C9BEDF32A4}</a:tableStyleId>
              </a:tblPr>
              <a:tblGrid>
                <a:gridCol w="3352800"/>
                <a:gridCol w="485775"/>
                <a:gridCol w="781050"/>
                <a:gridCol w="495300"/>
                <a:gridCol w="6572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Query più frequenti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12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Clic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12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Impressioni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12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CTR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12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Posizione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128: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artide srl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598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38.29%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1.09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artide sala baganza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23.08%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1.25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artide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19194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0.21%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10.39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3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aiaq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888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0.34%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6.08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4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case dell'acqua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397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0.76%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35.47.00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5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1.46%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6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acqua rubinetto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180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1.11%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2.34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7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filtri per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4.35%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8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casa dell'acqua vicino a me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4.65%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9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acqua impianto domestico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10.53%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2.42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le caraffe filtranti funzionano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15.38%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1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casa dell'acqua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262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0.38%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20.03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2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articoli in evidenza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0.44%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3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 filtri dell'acqua servono davvero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0.83%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4.29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4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filtri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0.94%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2.48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5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produttori erogatori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0.98%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25.47.00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6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filtri per acqua potabile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7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1.92%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7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acqua dopo contatore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8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8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8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2.56%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8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18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acqua potabile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9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9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9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4.17%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9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19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per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4.35%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0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rubinetto cucina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7.69%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1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per rubinetto cucina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8.33%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2.33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2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filtri per acqua rubinetto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11.11%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14.07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3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durezza acqua cesano maderno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4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brita filtri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12.5%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3.38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128:25:4"/>
                      </a:ext>
                    </a:extLst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filtro depuratore acqua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16.67%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5.07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128:26:4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60f06092a_0_1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g3c60f06092a_0_1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35" name="Google Shape;135;g3c60f06092a_0_1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36" name="Google Shape;136;g3c60f06092a_0_1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g3c60f06092a_0_1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g3c60f06092a_0_1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g3c60f06092a_0_1"/>
          <p:cNvSpPr txBox="1"/>
          <p:nvPr/>
        </p:nvSpPr>
        <p:spPr>
          <a:xfrm>
            <a:off x="2057402" y="244374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Tecnica e Prestazionale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60f06092a_0_1"/>
          <p:cNvSpPr txBox="1"/>
          <p:nvPr/>
        </p:nvSpPr>
        <p:spPr>
          <a:xfrm>
            <a:off x="284225" y="1034961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ROBOTS.TXT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c60f06092a_0_1"/>
          <p:cNvSpPr txBox="1"/>
          <p:nvPr/>
        </p:nvSpPr>
        <p:spPr>
          <a:xfrm>
            <a:off x="208425" y="1454925"/>
            <a:ext cx="10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file robots.txt è corretto e non necessita interventi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g3c60f06092a_0_1" title="robot-with-tick-symbol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1921100"/>
            <a:ext cx="6416568" cy="513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60f06092a_0_17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c60f06092a_0_17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49" name="Google Shape;149;g3c60f06092a_0_17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50" name="Google Shape;150;g3c60f06092a_0_17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g3c60f06092a_0_17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g3c60f06092a_0_17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g3c60f06092a_0_17"/>
          <p:cNvSpPr txBox="1"/>
          <p:nvPr/>
        </p:nvSpPr>
        <p:spPr>
          <a:xfrm>
            <a:off x="2057402" y="244374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Tecnica e Prestazionale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c60f06092a_0_17"/>
          <p:cNvSpPr txBox="1"/>
          <p:nvPr/>
        </p:nvSpPr>
        <p:spPr>
          <a:xfrm>
            <a:off x="284225" y="1034961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SITEMAP XML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c60f06092a_0_17"/>
          <p:cNvSpPr txBox="1"/>
          <p:nvPr/>
        </p:nvSpPr>
        <p:spPr>
          <a:xfrm>
            <a:off x="208425" y="1454925"/>
            <a:ext cx="1028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sitemap XML è corretta e inviata correttamente a Search Console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c60f06092a_0_17" title="Wavy_Bus-04_Single-09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57400" y="1957625"/>
            <a:ext cx="5132001" cy="5132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c60f06092a_0_17" title="5e2c5918-4df3-48d9-988a-8af4d95c2606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9251" y="1957625"/>
            <a:ext cx="1674849" cy="167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3eb3408a5_0_102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g393eb3408a5_0_102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160" t="0"/>
            </a:stretch>
          </a:blipFill>
          <a:ln>
            <a:noFill/>
          </a:ln>
        </p:spPr>
      </p:sp>
      <p:sp>
        <p:nvSpPr>
          <p:cNvPr id="164" name="Google Shape;164;g393eb3408a5_0_102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65" name="Google Shape;165;g393eb3408a5_0_102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g393eb3408a5_0_102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g393eb3408a5_0_102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g393eb3408a5_0_102"/>
          <p:cNvSpPr txBox="1"/>
          <p:nvPr/>
        </p:nvSpPr>
        <p:spPr>
          <a:xfrm>
            <a:off x="1582502" y="176700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Tecnica e Prestazionale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93eb3408a5_0_102"/>
          <p:cNvSpPr txBox="1"/>
          <p:nvPr/>
        </p:nvSpPr>
        <p:spPr>
          <a:xfrm>
            <a:off x="337000" y="1050036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Link a home con redirect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93eb3408a5_0_102"/>
          <p:cNvSpPr txBox="1"/>
          <p:nvPr/>
        </p:nvSpPr>
        <p:spPr>
          <a:xfrm>
            <a:off x="224900" y="1454925"/>
            <a:ext cx="10266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Eliminare i link a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https://www.artide.it/home/</a:t>
            </a:r>
            <a:r>
              <a:rPr lang="en-US">
                <a:solidFill>
                  <a:schemeClr val="dk1"/>
                </a:solidFill>
              </a:rPr>
              <a:t>, che fanno redirect a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https://www.artide.it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93eb3408a5_0_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007525"/>
            <a:ext cx="31242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393eb3408a5_0_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29000" y="2007525"/>
            <a:ext cx="657225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f27e3446b_4_73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g37f27e3446b_4_73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79" name="Google Shape;179;g37f27e3446b_4_73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80" name="Google Shape;180;g37f27e3446b_4_73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g37f27e3446b_4_73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g37f27e3446b_4_73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g37f27e3446b_4_73"/>
          <p:cNvSpPr txBox="1"/>
          <p:nvPr/>
        </p:nvSpPr>
        <p:spPr>
          <a:xfrm>
            <a:off x="208438" y="1034950"/>
            <a:ext cx="10282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Abbiamo analizzato il dominio che presenta un problema a servire il primo byte e poi carica contenuti troppo grossi (LCP)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f27e3446b_4_73"/>
          <p:cNvSpPr txBox="1"/>
          <p:nvPr/>
        </p:nvSpPr>
        <p:spPr>
          <a:xfrm>
            <a:off x="2057402" y="244374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Tecnica e Prestazionale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7f27e3446b_4_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7400" y="1328825"/>
            <a:ext cx="6263635" cy="559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64e01dc01_0_7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g3a64e01dc01_0_7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192" name="Google Shape;192;g3a64e01dc01_0_7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193" name="Google Shape;193;g3a64e01dc01_0_7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g3a64e01dc01_0_7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g3a64e01dc01_0_7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g3a64e01dc01_0_7"/>
          <p:cNvSpPr txBox="1"/>
          <p:nvPr/>
        </p:nvSpPr>
        <p:spPr>
          <a:xfrm>
            <a:off x="4816250" y="1917700"/>
            <a:ext cx="5351700" cy="22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Soluzioni rapide per migliorare le performance mobile</a:t>
            </a:r>
            <a:endParaRPr b="1" i="0" sz="13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050" u="none" cap="none" strike="noStrike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Richieste di blocco del rendering</a:t>
            </a:r>
            <a:r>
              <a:rPr b="0" i="0" lang="en-US" sz="1050" u="none" cap="none" strike="noStrike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en-US" sz="1050" u="none" cap="none" strike="noStrike">
                <a:solidFill>
                  <a:srgbClr val="21212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Vi sono elementi css e js che forse si possono rimandare (defer o async)</a:t>
            </a:r>
            <a:endParaRPr b="1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Cache</a:t>
            </a: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→ La memorizzazione nella cache per un lungo periodo di tempo può velocizzare le visite abituali alla tua pagina.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Ottimizzare il peso delle immagini</a:t>
            </a:r>
            <a:r>
              <a:rPr b="0" i="0" lang="en-US" sz="1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→  Le immagini PNG sono più pesanti delle JPG. Provare a comprendere se una compressione WEBP è sufficiente o se è necessario convertire diversamente le immagini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g3a64e01dc01_0_7"/>
          <p:cNvSpPr txBox="1"/>
          <p:nvPr/>
        </p:nvSpPr>
        <p:spPr>
          <a:xfrm>
            <a:off x="460300" y="1985500"/>
            <a:ext cx="39291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dati raccolti con PageSpeed Insights ci dicono che da mobile, il sito ha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tempi di caricamento troppo lenti per garantire un’esperienza davvero fluida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L’elemento principale della pagina arriva addirittura dopo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oltre 10 secondi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(LCP: </a:t>
            </a: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,9 s)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L’indice di velocità complessivo è di </a:t>
            </a:r>
            <a:r>
              <a:rPr b="1" lang="en-US" sz="1200">
                <a:latin typeface="Roboto"/>
                <a:ea typeface="Roboto"/>
                <a:cs typeface="Roboto"/>
                <a:sym typeface="Roboto"/>
              </a:rPr>
              <a:t>8</a:t>
            </a: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b="1" lang="en-US" sz="1200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secondi</a:t>
            </a: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, quando dovrebbe stare sotto i 3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Tutto questo incide direttamente sull’esperienza delle persone, sul posizionamento nei risultati di ricerca e, di conseguenza, anche sulle possibilità di conversione.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L’analisi è recuperabile da </a:t>
            </a:r>
            <a:r>
              <a:rPr b="0" i="0" lang="en-US" sz="1200" u="sng" cap="none" strike="noStrike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questo link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g3a64e01dc01_0_7"/>
          <p:cNvSpPr txBox="1"/>
          <p:nvPr/>
        </p:nvSpPr>
        <p:spPr>
          <a:xfrm>
            <a:off x="2057402" y="244374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Tecnica e Prestazionale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64e01dc01_6_2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g3a64e01dc01_6_2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05" name="Google Shape;205;g3a64e01dc01_6_2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06" name="Google Shape;206;g3a64e01dc01_6_2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g3a64e01dc01_6_2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g3a64e01dc01_6_2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g3a64e01dc01_6_20"/>
          <p:cNvSpPr txBox="1"/>
          <p:nvPr/>
        </p:nvSpPr>
        <p:spPr>
          <a:xfrm>
            <a:off x="208438" y="1034950"/>
            <a:ext cx="10282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sezioni logiche non sono performanti per portare Google a posizionare </a:t>
            </a:r>
            <a:r>
              <a:rPr lang="en-US" sz="1100">
                <a:solidFill>
                  <a:schemeClr val="dk1"/>
                </a:solidFill>
              </a:rPr>
              <a:t>i servizi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Dall’homepage vi è un link solo alla storia, all’interno dei servizi non vi sono link tra di loro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a64e01dc01_6_20"/>
          <p:cNvSpPr txBox="1"/>
          <p:nvPr/>
        </p:nvSpPr>
        <p:spPr>
          <a:xfrm>
            <a:off x="2057402" y="233025"/>
            <a:ext cx="39912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Struttura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3a64e01dc01_6_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736050"/>
            <a:ext cx="10388601" cy="536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c0e86948e_0_132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g38c0e86948e_0_132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18" name="Google Shape;218;g38c0e86948e_0_132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19" name="Google Shape;219;g38c0e86948e_0_132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g38c0e86948e_0_132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g38c0e86948e_0_132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38c0e86948e_0_132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8c0e86948e_0_132"/>
          <p:cNvSpPr txBox="1"/>
          <p:nvPr/>
        </p:nvSpPr>
        <p:spPr>
          <a:xfrm>
            <a:off x="408350" y="1039248"/>
            <a:ext cx="872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mancanti o non corretti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8c0e86948e_0_132"/>
          <p:cNvSpPr txBox="1"/>
          <p:nvPr/>
        </p:nvSpPr>
        <p:spPr>
          <a:xfrm>
            <a:off x="453025" y="1587961"/>
            <a:ext cx="872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Alcuni title e description vanno rivisti perchè corti o troppo lunghi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g38c0e86948e_0_1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55861"/>
            <a:ext cx="10388601" cy="2995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4fa9fb1a3_0_18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g3d4fa9fb1a3_0_18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32" name="Google Shape;232;g3d4fa9fb1a3_0_18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33" name="Google Shape;233;g3d4fa9fb1a3_0_18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g3d4fa9fb1a3_0_18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g3d4fa9fb1a3_0_18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g3d4fa9fb1a3_0_18"/>
          <p:cNvSpPr txBox="1"/>
          <p:nvPr/>
        </p:nvSpPr>
        <p:spPr>
          <a:xfrm>
            <a:off x="408350" y="1039248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Headings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d4fa9fb1a3_0_18"/>
          <p:cNvSpPr txBox="1"/>
          <p:nvPr/>
        </p:nvSpPr>
        <p:spPr>
          <a:xfrm>
            <a:off x="181825" y="1456036"/>
            <a:ext cx="872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Il markup heading va rivisto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d4fa9fb1a3_0_18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d4fa9fb1a3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55861"/>
            <a:ext cx="10388603" cy="206960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d4fa9fb1a3_0_18"/>
          <p:cNvSpPr txBox="1"/>
          <p:nvPr/>
        </p:nvSpPr>
        <p:spPr>
          <a:xfrm>
            <a:off x="253625" y="4084949"/>
            <a:ext cx="872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Le briciole di pane farle diventare div, soprattutto nei casi in cui sono sia &lt;h1&gt; che &lt;h3&gt;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g3d4fa9fb1a3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9900" y="4602949"/>
            <a:ext cx="4416927" cy="24866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4fa9fb1a3_0_35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g3d4fa9fb1a3_0_35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48" name="Google Shape;248;g3d4fa9fb1a3_0_35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49" name="Google Shape;249;g3d4fa9fb1a3_0_35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g3d4fa9fb1a3_0_35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g3d4fa9fb1a3_0_35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d4fa9fb1a3_0_35"/>
          <p:cNvSpPr txBox="1"/>
          <p:nvPr/>
        </p:nvSpPr>
        <p:spPr>
          <a:xfrm>
            <a:off x="408350" y="1039248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Headings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d4fa9fb1a3_0_35"/>
          <p:cNvSpPr txBox="1"/>
          <p:nvPr/>
        </p:nvSpPr>
        <p:spPr>
          <a:xfrm>
            <a:off x="181825" y="1456020"/>
            <a:ext cx="1034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I contenuti degli heading devono essere le query obiettivo. Nel caso questi contenuti non debbano esistere eliminarli.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d4fa9fb1a3_0_35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d4fa9fb1a3_0_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6300" y="2023936"/>
            <a:ext cx="7069263" cy="5115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663bfd1d9_0_9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" name="Google Shape;261;g3a663bfd1d9_0_9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62" name="Google Shape;262;g3a663bfd1d9_0_9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63" name="Google Shape;263;g3a663bfd1d9_0_9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g3a663bfd1d9_0_9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g3a663bfd1d9_0_9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g3a663bfd1d9_0_90"/>
          <p:cNvSpPr txBox="1"/>
          <p:nvPr/>
        </p:nvSpPr>
        <p:spPr>
          <a:xfrm>
            <a:off x="259450" y="1002024"/>
            <a:ext cx="872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Contenuto non ottimizzato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a663bfd1d9_0_90"/>
          <p:cNvSpPr txBox="1"/>
          <p:nvPr/>
        </p:nvSpPr>
        <p:spPr>
          <a:xfrm>
            <a:off x="151375" y="1409250"/>
            <a:ext cx="10177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 descrizioni </a:t>
            </a:r>
            <a:r>
              <a:rPr lang="en-US" sz="1500">
                <a:solidFill>
                  <a:schemeClr val="dk1"/>
                </a:solidFill>
              </a:rPr>
              <a:t>dei servizi </a:t>
            </a: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sono interessanti ma non ottimizzate nel migliore dei modi, dato che non intercettano tutte le KW correlate. Rivedere i contenuti.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a663bfd1d9_0_90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a663bfd1d9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950" y="2090250"/>
            <a:ext cx="8383128" cy="48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46a84d593_0_17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g3d46a84d593_0_17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76" name="Google Shape;276;g3d46a84d593_0_17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77" name="Google Shape;277;g3d46a84d593_0_17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g3d46a84d593_0_17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g3d46a84d593_0_17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g3d46a84d593_0_17"/>
          <p:cNvSpPr txBox="1"/>
          <p:nvPr/>
        </p:nvSpPr>
        <p:spPr>
          <a:xfrm>
            <a:off x="259450" y="1002024"/>
            <a:ext cx="872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Contenuto </a:t>
            </a:r>
            <a:r>
              <a:rPr b="1" lang="en-US" sz="1100">
                <a:solidFill>
                  <a:schemeClr val="dk1"/>
                </a:solidFill>
              </a:rPr>
              <a:t>Demo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d46a84d593_0_17"/>
          <p:cNvSpPr txBox="1"/>
          <p:nvPr/>
        </p:nvSpPr>
        <p:spPr>
          <a:xfrm>
            <a:off x="151375" y="1409250"/>
            <a:ext cx="10177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Alcune pagine hanno contenuto demo: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u="sng">
                <a:solidFill>
                  <a:schemeClr val="hlink"/>
                </a:solidFill>
                <a:hlinkClick r:id="rId5"/>
              </a:rPr>
              <a:t>https://www.artide.it/produzione-tessere/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https://www.artide.it/erogatore-d-acqua/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82" name="Google Shape;282;g3d46a84d593_0_17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g3d46a84d593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3950" y="2288275"/>
            <a:ext cx="8529491" cy="46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46a84d593_0_34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g3d46a84d593_0_34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290" name="Google Shape;290;g3d46a84d593_0_34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291" name="Google Shape;291;g3d46a84d593_0_34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g3d46a84d593_0_34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g3d46a84d593_0_34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g3d46a84d593_0_34"/>
          <p:cNvSpPr txBox="1"/>
          <p:nvPr/>
        </p:nvSpPr>
        <p:spPr>
          <a:xfrm>
            <a:off x="259450" y="1002024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Contenuto </a:t>
            </a:r>
            <a:r>
              <a:rPr b="1" lang="en-US" sz="1100">
                <a:solidFill>
                  <a:schemeClr val="dk1"/>
                </a:solidFill>
              </a:rPr>
              <a:t>Anonimo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3d46a84d593_0_34"/>
          <p:cNvSpPr txBox="1"/>
          <p:nvPr/>
        </p:nvSpPr>
        <p:spPr>
          <a:xfrm>
            <a:off x="151375" y="1409250"/>
            <a:ext cx="10177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Alcune pagine sotto a servizi hanno un contenuto a cui manca il soggetto e che non fa capire cosa effettivamente fa l’azienda.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6" name="Google Shape;296;g3d46a84d593_0_34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g3d46a84d593_0_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0325" y="2090245"/>
            <a:ext cx="5816075" cy="27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d46a84d593_0_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959196"/>
            <a:ext cx="3805174" cy="2180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g3d46a84d593_0_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10874" y="4880121"/>
            <a:ext cx="3727298" cy="2180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d4f5e183c4_0_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g3d4f5e183c4_0_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06" name="Google Shape;306;g3d4f5e183c4_0_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07" name="Google Shape;307;g3d4f5e183c4_0_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g3d4f5e183c4_0_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g3d4f5e183c4_0_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g3d4f5e183c4_0_0"/>
          <p:cNvSpPr txBox="1"/>
          <p:nvPr/>
        </p:nvSpPr>
        <p:spPr>
          <a:xfrm>
            <a:off x="259450" y="1002024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Contenuto </a:t>
            </a:r>
            <a:r>
              <a:rPr b="1" lang="en-US" sz="1100">
                <a:solidFill>
                  <a:schemeClr val="dk1"/>
                </a:solidFill>
              </a:rPr>
              <a:t>Dupplicato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d4f5e183c4_0_0"/>
          <p:cNvSpPr txBox="1"/>
          <p:nvPr/>
        </p:nvSpPr>
        <p:spPr>
          <a:xfrm>
            <a:off x="151375" y="1409250"/>
            <a:ext cx="101772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Vi è un URL con contenuto duplicato: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https://www.artide.it/contatti-test/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2" name="Google Shape;312;g3d4f5e183c4_0_0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46a84d593_0_2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8" name="Google Shape;318;g3d46a84d593_0_2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19" name="Google Shape;319;g3d46a84d593_0_2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20" name="Google Shape;320;g3d46a84d593_0_2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g3d46a84d593_0_2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g3d46a84d593_0_2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g3d46a84d593_0_2"/>
          <p:cNvSpPr txBox="1"/>
          <p:nvPr/>
        </p:nvSpPr>
        <p:spPr>
          <a:xfrm>
            <a:off x="259450" y="1002024"/>
            <a:ext cx="8721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Segnali EEAT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46a84d593_0_2"/>
          <p:cNvSpPr txBox="1"/>
          <p:nvPr/>
        </p:nvSpPr>
        <p:spPr>
          <a:xfrm>
            <a:off x="151375" y="1409250"/>
            <a:ext cx="1017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 parte l’homepage nelle altre pagine il footer perde tutti i dati aziendali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d46a84d593_0_2"/>
          <p:cNvSpPr txBox="1"/>
          <p:nvPr/>
        </p:nvSpPr>
        <p:spPr>
          <a:xfrm>
            <a:off x="2057401" y="246050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ON PAGE</a:t>
            </a:r>
            <a:endParaRPr b="0" i="0" sz="2224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d46a84d593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508150"/>
            <a:ext cx="10388603" cy="3444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f27e3446b_4_198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g37f27e3446b_4_198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33" name="Google Shape;333;g37f27e3446b_4_198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34" name="Google Shape;334;g37f27e3446b_4_198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g37f27e3446b_4_198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g37f27e3446b_4_198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g37f27e3446b_4_198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Dati Strutturati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7f27e3446b_4_198"/>
          <p:cNvSpPr txBox="1"/>
          <p:nvPr/>
        </p:nvSpPr>
        <p:spPr>
          <a:xfrm>
            <a:off x="300925" y="1009173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Mancanza di dati strutturati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37f27e3446b_4_198"/>
          <p:cNvSpPr txBox="1"/>
          <p:nvPr/>
        </p:nvSpPr>
        <p:spPr>
          <a:xfrm>
            <a:off x="300925" y="1255750"/>
            <a:ext cx="10127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Sicuramente il progetto potrebbe sfruttare dati strutturati local business + service e FAQ, oltre a breadcrumbs e article.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g37f27e3446b_4_1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5775" y="2362336"/>
            <a:ext cx="7914139" cy="4519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f1e7ae9f6_0_10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g37f1e7ae9f6_0_10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47" name="Google Shape;347;g37f1e7ae9f6_0_10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48" name="Google Shape;348;g37f1e7ae9f6_0_10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g37f1e7ae9f6_0_10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0" name="Google Shape;350;g37f1e7ae9f6_0_10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g37f1e7ae9f6_0_100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OFF PAGE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7f1e7ae9f6_0_100"/>
          <p:cNvSpPr txBox="1"/>
          <p:nvPr/>
        </p:nvSpPr>
        <p:spPr>
          <a:xfrm>
            <a:off x="5436350" y="2960175"/>
            <a:ext cx="4961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sito ha un profilo di link in ingresso abbastanza naturale, la maggior parte sono Follow, ma purtroppo essi hanno due problemi: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sono da siti/directory non in argomento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sono contestualizzati e quindi non spingono bene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g37f1e7ae9f6_0_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300" y="1391363"/>
            <a:ext cx="7610475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g37f1e7ae9f6_0_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000" y="2733738"/>
            <a:ext cx="4467225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7f27e3446b_4_26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g37f27e3446b_4_26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61" name="Google Shape;361;g37f27e3446b_4_26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62" name="Google Shape;362;g37f27e3446b_4_26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g37f27e3446b_4_26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g37f27e3446b_4_26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g37f27e3446b_4_260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OFF PAGE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7f27e3446b_4_260"/>
          <p:cNvSpPr txBox="1"/>
          <p:nvPr/>
        </p:nvSpPr>
        <p:spPr>
          <a:xfrm>
            <a:off x="671488" y="1072200"/>
            <a:ext cx="93567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Come spiegato a dispetto dell’elevato numero di link essi purtroppo sono per la maggior parte di scarso valore e non portano effettivo beneficio perchè su domini a bassissimo trust.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7f27e3446b_4_260"/>
          <p:cNvSpPr txBox="1"/>
          <p:nvPr/>
        </p:nvSpPr>
        <p:spPr>
          <a:xfrm>
            <a:off x="656850" y="4736163"/>
            <a:ext cx="93567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È necessario procurarsi link che effettivamente possano spostare il posizionamento e soprattutto aumentare il crawl budget, che per un progetto di questa portata è assolutamente da aumentare.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A questo si aggiunge il fatto che il sito ha molti link in uscita, che andrebbero almeno impostati a nofollow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consiglio di effettuare azioni di disallow per due motivi: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profilo backlink così è chiaramente naturale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non sono link problematici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" name="Google Shape;368;g37f27e3446b_4_260"/>
          <p:cNvGraphicFramePr/>
          <p:nvPr/>
        </p:nvGraphicFramePr>
        <p:xfrm>
          <a:off x="2557250" y="210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{804B59BE-C285-42D9-A55F-11C9BEDF32A4}</a:tableStyleId>
              </a:tblPr>
              <a:tblGrid>
                <a:gridCol w="1019175"/>
                <a:gridCol w="952500"/>
                <a:gridCol w="952500"/>
                <a:gridCol w="952500"/>
                <a:gridCol w="952500"/>
                <a:gridCol w="9525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Authority Score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Numero Link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Follow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Nofollow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Home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Altre</a:t>
                      </a:r>
                      <a:endParaRPr b="1"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  <a:extLst>
                      <a:ext uri="http://customooxmlschemas.google.com/">
                        <go:slidesCustomData xmlns:go="http://customooxmlschemas.google.com/" cellId="368:0:5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0/9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7151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6948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203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7146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5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1:5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10/19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8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2:5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20/29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3:5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30/39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  <a:extLst>
                      <a:ext uri="http://customooxmlschemas.google.com/">
                        <go:slidesCustomData xmlns:go="http://customooxmlschemas.google.com/" cellId="368:4:5"/>
                      </a:ext>
                    </a:extLst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40+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91425" marB="91425" marR="28575" marL="28575" anchor="b">
                    <a:lnL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  <a:extLst>
                      <a:ext uri="http://customooxmlschemas.google.com/">
                        <go:slidesCustomData xmlns:go="http://customooxmlschemas.google.com/" cellId="368:5:5"/>
                      </a:ext>
                    </a:extLst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7f27e3446b_4_244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g37f27e3446b_4_244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75" name="Google Shape;375;g37f27e3446b_4_244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76" name="Google Shape;376;g37f27e3446b_4_244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7f27e3446b_4_244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7f27e3446b_4_244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g37f27e3446b_4_244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Analisi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SEO OFF PAGE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7f27e3446b_4_244"/>
          <p:cNvSpPr txBox="1"/>
          <p:nvPr/>
        </p:nvSpPr>
        <p:spPr>
          <a:xfrm>
            <a:off x="487150" y="966198"/>
            <a:ext cx="8721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MENZIONI E DIGITAL PR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7f27e3446b_4_244"/>
          <p:cNvSpPr txBox="1"/>
          <p:nvPr/>
        </p:nvSpPr>
        <p:spPr>
          <a:xfrm>
            <a:off x="487138" y="2129475"/>
            <a:ext cx="93567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poter essere menzionati dai motori di risposta (le AI come chatgpt, claude e perplexity) è opportuno che il brand abbia un elevato numero di menzioni sulla rete, anche senza link.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Il sito da questo punto di vista, grazie all’anzianità ha già parecchi posizionamenti in directory dedicate, ma è opportuno effettuare un lavoro più articolato per analizzare le directory più importanti e in argomento in cui creare una scheda dedicata.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f1e7ae9f6_0_110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g37f1e7ae9f6_0_110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388" name="Google Shape;388;g37f1e7ae9f6_0_110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389" name="Google Shape;389;g37f1e7ae9f6_0_110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g37f1e7ae9f6_0_110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g37f1e7ae9f6_0_110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2" name="Google Shape;392;g37f1e7ae9f6_0_110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SEO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37f1e7ae9f6_0_110"/>
          <p:cNvSpPr txBox="1"/>
          <p:nvPr/>
        </p:nvSpPr>
        <p:spPr>
          <a:xfrm>
            <a:off x="284225" y="1034950"/>
            <a:ext cx="10091700" cy="6025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75150" lIns="75150" spcFirstLastPara="1" rIns="75150" wrap="square" tIns="75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Roadmap Onsite </a:t>
            </a:r>
            <a:endParaRPr b="1" i="0" sz="1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(PRIORITÀ ALTA)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Ridefinire struttura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Modificare homepage per puntare a </a:t>
            </a: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tutti i servizi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Aggiungere ancore interne tra i servizi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Roboto"/>
              <a:buChar char="●"/>
            </a:pPr>
            <a:r>
              <a:rPr lang="en-US" sz="1200">
                <a:latin typeface="Roboto"/>
                <a:ea typeface="Roboto"/>
                <a:cs typeface="Roboto"/>
                <a:sym typeface="Roboto"/>
              </a:rPr>
              <a:t>Aggiungere ancore interne tra gli articoli del blog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Ridefinire gli headings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Implementare prestazioni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Comprimere immagini webp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Implementare una cache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Strategia per acquisire link ad alto trust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Attualmente il profilo link è molto debole rispetto alle dimensioni del sito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Gestire i contenuti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Eliminare i contenuti demo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Realizzare dei contenuti che puntino a kw focus e modificare i contenuti senza soggetto o anonimi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Footer con dati aziendali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f4bfb335d_0_15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g37f4bfb335d_0_15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400" name="Google Shape;400;g37f4bfb335d_0_15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401" name="Google Shape;401;g37f4bfb335d_0_15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g37f4bfb335d_0_15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g37f4bfb335d_0_15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g37f4bfb335d_0_15"/>
          <p:cNvSpPr txBox="1"/>
          <p:nvPr/>
        </p:nvSpPr>
        <p:spPr>
          <a:xfrm>
            <a:off x="284225" y="1034950"/>
            <a:ext cx="10091700" cy="5937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75150" lIns="75150" spcFirstLastPara="1" rIns="75150" wrap="square" tIns="75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Roadmap Onsite </a:t>
            </a:r>
            <a:endParaRPr b="1" i="0" sz="1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(PRIORITÀ MEDIA)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Riscrittura title/description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Eliminare internal redirect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Revisione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contenuto</a:t>
            </a: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 Keyword research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 rafforzare il contenuto per le query correlate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Sanitizzare link esterni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Impostarli a nofollow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Acquisizione link ad alto budget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Implementare una cache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g37f4bfb335d_0_15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SEO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f4bfb335d_0_26"/>
          <p:cNvSpPr/>
          <p:nvPr/>
        </p:nvSpPr>
        <p:spPr>
          <a:xfrm flipH="1">
            <a:off x="0" y="-1665294"/>
            <a:ext cx="10761307" cy="2421294"/>
          </a:xfrm>
          <a:custGeom>
            <a:rect b="b" l="l" r="r" t="t"/>
            <a:pathLst>
              <a:path extrusionOk="0" h="2421294" w="10761307">
                <a:moveTo>
                  <a:pt x="10761307" y="0"/>
                </a:moveTo>
                <a:lnTo>
                  <a:pt x="0" y="0"/>
                </a:lnTo>
                <a:lnTo>
                  <a:pt x="0" y="2421294"/>
                </a:lnTo>
                <a:lnTo>
                  <a:pt x="10761307" y="2421294"/>
                </a:lnTo>
                <a:lnTo>
                  <a:pt x="1076130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1" name="Google Shape;411;g37f4bfb335d_0_26"/>
          <p:cNvSpPr/>
          <p:nvPr/>
        </p:nvSpPr>
        <p:spPr>
          <a:xfrm>
            <a:off x="838774" y="219989"/>
            <a:ext cx="487520" cy="368372"/>
          </a:xfrm>
          <a:custGeom>
            <a:rect b="b" l="l" r="r" t="t"/>
            <a:pathLst>
              <a:path extrusionOk="0" h="368372" w="487520">
                <a:moveTo>
                  <a:pt x="0" y="0"/>
                </a:moveTo>
                <a:lnTo>
                  <a:pt x="487520" y="0"/>
                </a:lnTo>
                <a:lnTo>
                  <a:pt x="487520" y="368372"/>
                </a:lnTo>
                <a:lnTo>
                  <a:pt x="0" y="3683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58285" t="0"/>
            </a:stretch>
          </a:blipFill>
          <a:ln>
            <a:noFill/>
          </a:ln>
        </p:spPr>
      </p:sp>
      <p:sp>
        <p:nvSpPr>
          <p:cNvPr id="412" name="Google Shape;412;g37f4bfb335d_0_26"/>
          <p:cNvSpPr txBox="1"/>
          <p:nvPr/>
        </p:nvSpPr>
        <p:spPr>
          <a:xfrm>
            <a:off x="0" y="7291925"/>
            <a:ext cx="106920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1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rPr b="0" i="0" lang="en-US" sz="646" u="none" cap="none" strike="noStrike">
                <a:solidFill>
                  <a:srgbClr val="05004D"/>
                </a:solidFill>
                <a:latin typeface="Questrial"/>
                <a:ea typeface="Questrial"/>
                <a:cs typeface="Questrial"/>
                <a:sym typeface="Questrial"/>
              </a:rPr>
              <a:t>SEO BUSINESS S.R.L. | CORSO GALILEO FERRARIS 53 - 10128 - TORINO (TO)  P.IVA 13072980017  |  REA TO - 1336979 |  INFO@SEO-BUSINESS.IT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6"/>
              <a:buFont typeface="Arial"/>
              <a:buNone/>
            </a:pPr>
            <a:r>
              <a:t/>
            </a:r>
            <a:endParaRPr b="0" i="0" sz="646" u="none" cap="none" strike="noStrike">
              <a:solidFill>
                <a:srgbClr val="05004D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cxnSp>
        <p:nvCxnSpPr>
          <p:cNvPr id="413" name="Google Shape;413;g37f4bfb335d_0_26"/>
          <p:cNvCxnSpPr/>
          <p:nvPr/>
        </p:nvCxnSpPr>
        <p:spPr>
          <a:xfrm>
            <a:off x="337007" y="7192118"/>
            <a:ext cx="10091700" cy="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g37f4bfb335d_0_26"/>
          <p:cNvCxnSpPr/>
          <p:nvPr/>
        </p:nvCxnSpPr>
        <p:spPr>
          <a:xfrm>
            <a:off x="10488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g37f4bfb335d_0_26"/>
          <p:cNvCxnSpPr/>
          <p:nvPr/>
        </p:nvCxnSpPr>
        <p:spPr>
          <a:xfrm>
            <a:off x="10594807" y="1034958"/>
            <a:ext cx="0" cy="6025500"/>
          </a:xfrm>
          <a:prstGeom prst="straightConnector1">
            <a:avLst/>
          </a:prstGeom>
          <a:noFill/>
          <a:ln cap="flat" cmpd="sng" w="9525">
            <a:solidFill>
              <a:srgbClr val="4E33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g37f4bfb335d_0_26"/>
          <p:cNvSpPr txBox="1"/>
          <p:nvPr/>
        </p:nvSpPr>
        <p:spPr>
          <a:xfrm>
            <a:off x="284225" y="1034950"/>
            <a:ext cx="10091700" cy="5937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75150" lIns="75150" spcFirstLastPara="1" rIns="75150" wrap="square" tIns="75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Roadmap Onsite </a:t>
            </a:r>
            <a:endParaRPr b="1" i="0" sz="17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(PRIORITÀ BASSA)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Implementare Dati strutturati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FAQ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Local Business + Service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Acquisire query informative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Internal link nei contenuti del blog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Svecchiarli e riscriverli quando necessario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Implementare dati strutturati Article e Breadcrumb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Eliminare contenuto duplicato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97A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g37f4bfb335d_0_26"/>
          <p:cNvSpPr txBox="1"/>
          <p:nvPr/>
        </p:nvSpPr>
        <p:spPr>
          <a:xfrm>
            <a:off x="2057401" y="233025"/>
            <a:ext cx="33783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4"/>
              <a:buFont typeface="Arial"/>
              <a:buNone/>
            </a:pPr>
            <a:r>
              <a:rPr b="0" i="0" lang="en-US" sz="222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SEO </a:t>
            </a:r>
            <a:r>
              <a:rPr b="0" i="0" lang="en-US" sz="2224" u="none" cap="none" strike="noStrike">
                <a:solidFill>
                  <a:srgbClr val="4F40E8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 b="0" i="0" sz="2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g37f1e7ae9f6_0_120"/>
          <p:cNvPicPr preferRelativeResize="0"/>
          <p:nvPr/>
        </p:nvPicPr>
        <p:blipFill rotWithShape="1">
          <a:blip r:embed="rId3">
            <a:alphaModFix/>
          </a:blip>
          <a:srcRect b="3549" l="0" r="0" t="16474"/>
          <a:stretch/>
        </p:blipFill>
        <p:spPr>
          <a:xfrm>
            <a:off x="-4461017" y="0"/>
            <a:ext cx="11253588" cy="7556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7f1e7ae9f6_0_120"/>
          <p:cNvSpPr/>
          <p:nvPr/>
        </p:nvSpPr>
        <p:spPr>
          <a:xfrm>
            <a:off x="-335869" y="0"/>
            <a:ext cx="11037600" cy="7556400"/>
          </a:xfrm>
          <a:custGeom>
            <a:rect b="b" l="l" r="r" t="t"/>
            <a:pathLst>
              <a:path extrusionOk="0" h="120000" w="120000">
                <a:moveTo>
                  <a:pt x="95202" y="0"/>
                </a:moveTo>
                <a:lnTo>
                  <a:pt x="119999" y="0"/>
                </a:lnTo>
                <a:lnTo>
                  <a:pt x="119999" y="77721"/>
                </a:lnTo>
                <a:lnTo>
                  <a:pt x="47549" y="120000"/>
                </a:lnTo>
                <a:lnTo>
                  <a:pt x="0" y="120000"/>
                </a:lnTo>
                <a:lnTo>
                  <a:pt x="95202" y="0"/>
                </a:lnTo>
                <a:close/>
              </a:path>
            </a:pathLst>
          </a:custGeom>
          <a:solidFill>
            <a:srgbClr val="54E882"/>
          </a:solidFill>
          <a:ln>
            <a:noFill/>
          </a:ln>
        </p:spPr>
        <p:txBody>
          <a:bodyPr anchorCtr="0" anchor="ctr" bIns="33875" lIns="67800" spcFirstLastPara="1" rIns="67800" wrap="square" tIns="33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7"/>
              <a:buFont typeface="Arial"/>
              <a:buNone/>
            </a:pPr>
            <a:r>
              <a:t/>
            </a:r>
            <a:endParaRPr b="0" i="0" sz="2056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24" name="Google Shape;424;g37f1e7ae9f6_0_120"/>
          <p:cNvSpPr/>
          <p:nvPr/>
        </p:nvSpPr>
        <p:spPr>
          <a:xfrm>
            <a:off x="3908475" y="4881450"/>
            <a:ext cx="6784800" cy="2711100"/>
          </a:xfrm>
          <a:custGeom>
            <a:rect b="b" l="l" r="r" t="t"/>
            <a:pathLst>
              <a:path extrusionOk="0" h="120000" w="120000">
                <a:moveTo>
                  <a:pt x="120000" y="0"/>
                </a:moveTo>
                <a:lnTo>
                  <a:pt x="120000" y="120000"/>
                </a:lnTo>
                <a:lnTo>
                  <a:pt x="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888888"/>
          </a:solidFill>
          <a:ln>
            <a:noFill/>
          </a:ln>
        </p:spPr>
        <p:txBody>
          <a:bodyPr anchorCtr="0" anchor="ctr" bIns="23050" lIns="46150" spcFirstLastPara="1" rIns="46150" wrap="square" tIns="230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25" name="Google Shape;425;g37f1e7ae9f6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8785" y="6021347"/>
            <a:ext cx="3009009" cy="132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5004D"/>
      </a:dk1>
      <a:lt1>
        <a:srgbClr val="FFFFFF"/>
      </a:lt1>
      <a:dk2>
        <a:srgbClr val="4F40E8"/>
      </a:dk2>
      <a:lt2>
        <a:srgbClr val="EEECE1"/>
      </a:lt2>
      <a:accent1>
        <a:srgbClr val="54E882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